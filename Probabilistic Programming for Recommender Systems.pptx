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11" Type="http://schemas.openxmlformats.org/officeDocument/2006/relationships/slide" Target="slides/slide6.xml"/><Relationship Id="rId22" Type="http://schemas.openxmlformats.org/officeDocument/2006/relationships/font" Target="fonts/Roboto-italic.fntdata"/><Relationship Id="rId10" Type="http://schemas.openxmlformats.org/officeDocument/2006/relationships/slide" Target="slides/slide5.xml"/><Relationship Id="rId21" Type="http://schemas.openxmlformats.org/officeDocument/2006/relationships/font" Target="fonts/Robo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724f7ae6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724f7ae6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724f7ae6d_0_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724f7ae6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7410c481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97410c48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7410c481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97410c481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7410c481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97410c481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7410c481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97410c481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7410c481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97410c481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7410c481f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97410c481f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7410c481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97410c481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7410c481f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97410c481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97410c481f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97410c481f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7410c481f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97410c481f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7410c481f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97410c481f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85400" y="24610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Probabilistic Programming for Recommender Systems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Anusha Natarajan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April 2026</a:t>
            </a:r>
            <a:endParaRPr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210100" y="1052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recommender systems?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311700" y="789200"/>
            <a:ext cx="85206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Algorithms that predict what a user will find relevant — and surface it.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09775"/>
            <a:ext cx="5682356" cy="284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1856" y="1350350"/>
            <a:ext cx="2845143" cy="244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However there are challenges…</a:t>
            </a:r>
            <a:endParaRPr/>
          </a:p>
        </p:txBody>
      </p:sp>
      <p:grpSp>
        <p:nvGrpSpPr>
          <p:cNvPr id="99" name="Google Shape;99;p15"/>
          <p:cNvGrpSpPr/>
          <p:nvPr/>
        </p:nvGrpSpPr>
        <p:grpSpPr>
          <a:xfrm>
            <a:off x="431925" y="1304875"/>
            <a:ext cx="2628925" cy="3416400"/>
            <a:chOff x="431925" y="1304875"/>
            <a:chExt cx="2628925" cy="3416400"/>
          </a:xfrm>
        </p:grpSpPr>
        <p:sp>
          <p:nvSpPr>
            <p:cNvPr id="100" name="Google Shape;100;p15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" name="Google Shape;102;p15"/>
          <p:cNvSpPr txBox="1"/>
          <p:nvPr>
            <p:ph idx="4294967295" type="body"/>
          </p:nvPr>
        </p:nvSpPr>
        <p:spPr>
          <a:xfrm>
            <a:off x="50642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Cold Start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03" name="Google Shape;103;p15"/>
          <p:cNvGrpSpPr/>
          <p:nvPr/>
        </p:nvGrpSpPr>
        <p:grpSpPr>
          <a:xfrm>
            <a:off x="3320450" y="1304875"/>
            <a:ext cx="2632500" cy="3416400"/>
            <a:chOff x="3320450" y="1304875"/>
            <a:chExt cx="2632500" cy="3416400"/>
          </a:xfrm>
        </p:grpSpPr>
        <p:sp>
          <p:nvSpPr>
            <p:cNvPr id="104" name="Google Shape;104;p15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" name="Google Shape;106;p15"/>
          <p:cNvSpPr txBox="1"/>
          <p:nvPr>
            <p:ph idx="4294967295" type="body"/>
          </p:nvPr>
        </p:nvSpPr>
        <p:spPr>
          <a:xfrm>
            <a:off x="3389450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Sparse Data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07" name="Google Shape;107;p15"/>
          <p:cNvGrpSpPr/>
          <p:nvPr/>
        </p:nvGrpSpPr>
        <p:grpSpPr>
          <a:xfrm>
            <a:off x="6212550" y="1304875"/>
            <a:ext cx="2632500" cy="3416400"/>
            <a:chOff x="6212550" y="1304875"/>
            <a:chExt cx="2632500" cy="3416400"/>
          </a:xfrm>
        </p:grpSpPr>
        <p:sp>
          <p:nvSpPr>
            <p:cNvPr id="108" name="Google Shape;108;p15"/>
            <p:cNvSpPr/>
            <p:nvPr/>
          </p:nvSpPr>
          <p:spPr>
            <a:xfrm>
              <a:off x="621540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5"/>
            <p:cNvSpPr txBox="1"/>
            <p:nvPr/>
          </p:nvSpPr>
          <p:spPr>
            <a:xfrm>
              <a:off x="6212550" y="1304875"/>
              <a:ext cx="26325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" name="Google Shape;110;p15"/>
          <p:cNvSpPr txBox="1"/>
          <p:nvPr>
            <p:ph idx="4294967295" type="body"/>
          </p:nvPr>
        </p:nvSpPr>
        <p:spPr>
          <a:xfrm>
            <a:off x="627247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Overconfident Predictions</a:t>
            </a:r>
            <a:endParaRPr sz="1500">
              <a:solidFill>
                <a:schemeClr val="lt1"/>
              </a:solidFill>
            </a:endParaRPr>
          </a:p>
        </p:txBody>
      </p:sp>
      <p:pic>
        <p:nvPicPr>
          <p:cNvPr id="111" name="Google Shape;11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925" y="1926475"/>
            <a:ext cx="2632500" cy="206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68154" t="0"/>
          <a:stretch/>
        </p:blipFill>
        <p:spPr>
          <a:xfrm>
            <a:off x="3320450" y="1822075"/>
            <a:ext cx="2632499" cy="2860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08975" y="1926475"/>
            <a:ext cx="2559825" cy="2331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/>
          <p:nvPr>
            <p:ph type="title"/>
          </p:nvPr>
        </p:nvSpPr>
        <p:spPr>
          <a:xfrm>
            <a:off x="311700" y="1306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Recommender System Implementation</a:t>
            </a:r>
            <a:endParaRPr/>
          </a:p>
        </p:txBody>
      </p:sp>
      <p:pic>
        <p:nvPicPr>
          <p:cNvPr id="119" name="Google Shape;119;p16" title="Screenshot 2026-04-14 at 9.49.5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002" y="738400"/>
            <a:ext cx="6603988" cy="4405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Probabilistic Programming Concepts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type="title"/>
          </p:nvPr>
        </p:nvSpPr>
        <p:spPr>
          <a:xfrm>
            <a:off x="311700" y="156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Probability Distribution?</a:t>
            </a:r>
            <a:endParaRPr/>
          </a:p>
        </p:txBody>
      </p:sp>
      <p:sp>
        <p:nvSpPr>
          <p:cNvPr id="130" name="Google Shape;130;p18"/>
          <p:cNvSpPr txBox="1"/>
          <p:nvPr/>
        </p:nvSpPr>
        <p:spPr>
          <a:xfrm>
            <a:off x="4572000" y="1041400"/>
            <a:ext cx="42603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probability distribution describes all the values a quantity could take, and how likely each one is.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Types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Uniform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Exponential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Normal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Binomial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Geometric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Poisson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1" name="Google Shape;13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763800"/>
            <a:ext cx="3797299" cy="189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000" y="2662450"/>
            <a:ext cx="4015675" cy="2258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Prior, Likelihood, Posterior</a:t>
            </a:r>
            <a:endParaRPr/>
          </a:p>
        </p:txBody>
      </p:sp>
      <p:pic>
        <p:nvPicPr>
          <p:cNvPr id="138" name="Google Shape;13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9000" y="67088"/>
            <a:ext cx="3771900" cy="212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800" y="1333500"/>
            <a:ext cx="6203400" cy="328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9"/>
          <p:cNvSpPr txBox="1"/>
          <p:nvPr/>
        </p:nvSpPr>
        <p:spPr>
          <a:xfrm>
            <a:off x="6261000" y="2032000"/>
            <a:ext cx="2799900" cy="22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Prior:</a:t>
            </a: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initial belief about a parameter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Likelihood: </a:t>
            </a: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probability of observed data given that parameter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Posterior: </a:t>
            </a: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updated belief after combining both using Bayes' theorem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Hierarchical and Multilevel Modeling </a:t>
            </a:r>
            <a:endParaRPr/>
          </a:p>
        </p:txBody>
      </p:sp>
      <p:pic>
        <p:nvPicPr>
          <p:cNvPr id="146" name="Google Shape;14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100" y="1017800"/>
            <a:ext cx="5713650" cy="166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06625" y="410000"/>
            <a:ext cx="2428875" cy="215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0100" y="2755900"/>
            <a:ext cx="4218354" cy="215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0"/>
          <p:cNvSpPr txBox="1"/>
          <p:nvPr/>
        </p:nvSpPr>
        <p:spPr>
          <a:xfrm>
            <a:off x="5824000" y="2679700"/>
            <a:ext cx="32115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 1 — Population: global mean rating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 2 — Group:user and item offsets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 3 — Observation: individual ratings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Partial Pooling</a:t>
            </a:r>
            <a:endParaRPr/>
          </a:p>
        </p:txBody>
      </p:sp>
      <p:sp>
        <p:nvSpPr>
          <p:cNvPr id="155" name="Google Shape;155;p21"/>
          <p:cNvSpPr txBox="1"/>
          <p:nvPr>
            <p:ph idx="1" type="body"/>
          </p:nvPr>
        </p:nvSpPr>
        <p:spPr>
          <a:xfrm>
            <a:off x="311700" y="1229875"/>
            <a:ext cx="8349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ts val="1400"/>
              <a:buChar char="●"/>
            </a:pPr>
            <a:r>
              <a:rPr lang="en" sz="1400">
                <a:solidFill>
                  <a:srgbClr val="001D35"/>
                </a:solidFill>
                <a:highlight>
                  <a:srgbClr val="FFFFFF"/>
                </a:highlight>
              </a:rPr>
              <a:t>balances between estimating groups independently (no pooling) and combining them (complete pooling)</a:t>
            </a:r>
            <a:endParaRPr sz="14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ts val="1400"/>
              <a:buChar char="●"/>
            </a:pPr>
            <a:r>
              <a:rPr lang="en" sz="1400">
                <a:solidFill>
                  <a:srgbClr val="001D35"/>
                </a:solidFill>
                <a:highlight>
                  <a:srgbClr val="FFFFFF"/>
                </a:highlight>
              </a:rPr>
              <a:t>Shrinkage: Partial pooling reduces variance by pulling extreme estimates from small sample sizes toward the global average, which often reduces overall error.</a:t>
            </a:r>
            <a:endParaRPr sz="14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ts val="1400"/>
              <a:buChar char="●"/>
            </a:pPr>
            <a:r>
              <a:rPr lang="en" sz="1400">
                <a:solidFill>
                  <a:srgbClr val="001D35"/>
                </a:solidFill>
                <a:highlight>
                  <a:srgbClr val="FFFFFF"/>
                </a:highlight>
              </a:rPr>
              <a:t>Balanced Approach: It overcomes the over-fitting of "no pooling" and the under-fitting (ignoring group differences) of "complete pooling".</a:t>
            </a:r>
            <a:endParaRPr sz="14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ts val="1400"/>
              <a:buChar char="●"/>
            </a:pPr>
            <a:r>
              <a:rPr lang="en" sz="1400">
                <a:solidFill>
                  <a:srgbClr val="001D35"/>
                </a:solidFill>
                <a:highlight>
                  <a:srgbClr val="FFFFFF"/>
                </a:highlight>
              </a:rPr>
              <a:t>Hierarchy: It assumes that, while individual groups have unique characteristics, they are related, making it logical to share information across them.</a:t>
            </a:r>
            <a:endParaRPr sz="1400">
              <a:solidFill>
                <a:srgbClr val="001D35"/>
              </a:solidFill>
              <a:highlight>
                <a:srgbClr val="FFFFFF"/>
              </a:highlight>
            </a:endParaRPr>
          </a:p>
        </p:txBody>
      </p:sp>
      <p:pic>
        <p:nvPicPr>
          <p:cNvPr id="156" name="Google Shape;15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0600" y="3390100"/>
            <a:ext cx="3759200" cy="130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Putting it Altogether</a:t>
            </a:r>
            <a:endParaRPr/>
          </a:p>
        </p:txBody>
      </p:sp>
      <p:sp>
        <p:nvSpPr>
          <p:cNvPr id="162" name="Google Shape;162;p22"/>
          <p:cNvSpPr txBox="1"/>
          <p:nvPr/>
        </p:nvSpPr>
        <p:spPr>
          <a:xfrm>
            <a:off x="406400" y="1009650"/>
            <a:ext cx="3936900" cy="37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Hierarchical Modeling can be used in 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○"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Multi-Behavior Modeling — connects clicks, likes, and purchases to improve recommendations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○"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Attention Networks — models short-term and long-term user preferences across timescales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○"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Explicit &amp; Implicit Hierarchies — uses category → subcategory → item structure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p22"/>
          <p:cNvSpPr txBox="1"/>
          <p:nvPr/>
        </p:nvSpPr>
        <p:spPr>
          <a:xfrm>
            <a:off x="5123800" y="1094000"/>
            <a:ext cx="3651900" cy="37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Incorporating Bayesian Stats into Hierarchical Modeling 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Sparse Data — priors from broader categories stabilize predictions for new users and items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Cold Start — borrows strength from the population when individual history is thin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Scalability — variational inference (NumPyro, PyMC) makes it practical at production scale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4500" y="996950"/>
            <a:ext cx="5433900" cy="274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Tutorial of PyMC</a:t>
            </a:r>
            <a:endParaRPr/>
          </a:p>
        </p:txBody>
      </p:sp>
      <p:sp>
        <p:nvSpPr>
          <p:cNvPr id="174" name="Google Shape;174;p24"/>
          <p:cNvSpPr txBox="1"/>
          <p:nvPr>
            <p:ph idx="1" type="body"/>
          </p:nvPr>
        </p:nvSpPr>
        <p:spPr>
          <a:xfrm>
            <a:off x="311700" y="1229875"/>
            <a:ext cx="8520600" cy="14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PyMC is a probabilistic programming library for Python. It can be used for Bayesian statistical modeling and probabilistic machine learning. PyMC performs inference based on advanced Markov chain Monte Carlo and/or variational fitting algorithms.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5" name="Google Shape;175;p24" title="Screenshot 2026-04-14 at 10.50.0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0100" y="2387675"/>
            <a:ext cx="5866442" cy="219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 txBox="1"/>
          <p:nvPr>
            <p:ph type="title"/>
          </p:nvPr>
        </p:nvSpPr>
        <p:spPr>
          <a:xfrm>
            <a:off x="534600" y="7299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Model Equation</a:t>
            </a:r>
            <a:endParaRPr/>
          </a:p>
        </p:txBody>
      </p:sp>
      <p:sp>
        <p:nvSpPr>
          <p:cNvPr id="181" name="Google Shape;181;p25"/>
          <p:cNvSpPr txBox="1"/>
          <p:nvPr/>
        </p:nvSpPr>
        <p:spPr>
          <a:xfrm>
            <a:off x="534600" y="1854200"/>
            <a:ext cx="7797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</a:rPr>
              <a:t>predicted_rating = global_mean + user_offset + item_offset</a:t>
            </a:r>
            <a:endParaRPr sz="3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&amp; Results</a:t>
            </a:r>
            <a:endParaRPr/>
          </a:p>
        </p:txBody>
      </p:sp>
      <p:sp>
        <p:nvSpPr>
          <p:cNvPr id="187" name="Google Shape;187;p26"/>
          <p:cNvSpPr txBox="1"/>
          <p:nvPr>
            <p:ph idx="1" type="body"/>
          </p:nvPr>
        </p:nvSpPr>
        <p:spPr>
          <a:xfrm>
            <a:off x="5188500" y="150375"/>
            <a:ext cx="3701400" cy="169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Baseline RMSE:        1.1367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Hierarchical RMSE:    0.9457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Improvement:          0.1910  ✅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88" name="Google Shape;188;p26" title="Screenshot 2026-04-16 at 11.02.1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500" y="1706575"/>
            <a:ext cx="6680199" cy="205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